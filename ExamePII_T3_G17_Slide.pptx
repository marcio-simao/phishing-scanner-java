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E9"/>
    <a:srgbClr val="E5E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658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29021" y="763270"/>
            <a:ext cx="4228465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/>
              <a:t>Ano</a:t>
            </a:r>
            <a:r>
              <a:rPr spc="-20" dirty="0"/>
              <a:t> </a:t>
            </a:r>
            <a:r>
              <a:rPr spc="-10" dirty="0"/>
              <a:t>Académico: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2025/2026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/>
              <a:t>Ano</a:t>
            </a:r>
            <a:r>
              <a:rPr spc="-20" dirty="0"/>
              <a:t> </a:t>
            </a:r>
            <a:r>
              <a:rPr spc="-10" dirty="0"/>
              <a:t>Académico: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2025/2026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/>
              <a:t>Ano</a:t>
            </a:r>
            <a:r>
              <a:rPr spc="-20" dirty="0"/>
              <a:t> </a:t>
            </a:r>
            <a:r>
              <a:rPr spc="-10" dirty="0"/>
              <a:t>Académico: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2025/2026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/>
              <a:t>Ano</a:t>
            </a:r>
            <a:r>
              <a:rPr spc="-20" dirty="0"/>
              <a:t> </a:t>
            </a:r>
            <a:r>
              <a:rPr spc="-10" dirty="0"/>
              <a:t>Académico: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2025/2026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/>
              <a:t>Ano</a:t>
            </a:r>
            <a:r>
              <a:rPr spc="-20" dirty="0"/>
              <a:t> </a:t>
            </a:r>
            <a:r>
              <a:rPr spc="-10" dirty="0"/>
              <a:t>Académico: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2025/2026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897475" y="9591680"/>
            <a:ext cx="190500" cy="695325"/>
          </a:xfrm>
          <a:custGeom>
            <a:avLst/>
            <a:gdLst/>
            <a:ahLst/>
            <a:cxnLst/>
            <a:rect l="l" t="t" r="r" b="b"/>
            <a:pathLst>
              <a:path w="190500" h="695325">
                <a:moveTo>
                  <a:pt x="190500" y="0"/>
                </a:moveTo>
                <a:lnTo>
                  <a:pt x="0" y="0"/>
                </a:lnTo>
                <a:lnTo>
                  <a:pt x="0" y="694753"/>
                </a:lnTo>
                <a:lnTo>
                  <a:pt x="190500" y="694753"/>
                </a:lnTo>
                <a:lnTo>
                  <a:pt x="190500" y="0"/>
                </a:lnTo>
                <a:close/>
              </a:path>
            </a:pathLst>
          </a:custGeom>
          <a:solidFill>
            <a:srgbClr val="FFC32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6725" y="7781924"/>
            <a:ext cx="3209925" cy="250507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7150" y="9010649"/>
            <a:ext cx="2162175" cy="409575"/>
          </a:xfrm>
          <a:custGeom>
            <a:avLst/>
            <a:gdLst/>
            <a:ahLst/>
            <a:cxnLst/>
            <a:rect l="l" t="t" r="r" b="b"/>
            <a:pathLst>
              <a:path w="2162175" h="409575">
                <a:moveTo>
                  <a:pt x="2161794" y="231863"/>
                </a:moveTo>
                <a:lnTo>
                  <a:pt x="1247648" y="231863"/>
                </a:lnTo>
                <a:lnTo>
                  <a:pt x="1078382" y="403199"/>
                </a:lnTo>
                <a:lnTo>
                  <a:pt x="230517" y="403199"/>
                </a:lnTo>
                <a:lnTo>
                  <a:pt x="230517" y="409105"/>
                </a:lnTo>
                <a:lnTo>
                  <a:pt x="1080808" y="409105"/>
                </a:lnTo>
                <a:lnTo>
                  <a:pt x="1250061" y="237769"/>
                </a:lnTo>
                <a:lnTo>
                  <a:pt x="2161794" y="237769"/>
                </a:lnTo>
                <a:lnTo>
                  <a:pt x="2161794" y="231863"/>
                </a:lnTo>
                <a:close/>
              </a:path>
              <a:path w="2162175" h="409575">
                <a:moveTo>
                  <a:pt x="2161794" y="56667"/>
                </a:moveTo>
                <a:lnTo>
                  <a:pt x="1953768" y="56667"/>
                </a:lnTo>
                <a:lnTo>
                  <a:pt x="1842516" y="169303"/>
                </a:lnTo>
                <a:lnTo>
                  <a:pt x="966533" y="169303"/>
                </a:lnTo>
                <a:lnTo>
                  <a:pt x="860259" y="276910"/>
                </a:lnTo>
                <a:lnTo>
                  <a:pt x="577735" y="276910"/>
                </a:lnTo>
                <a:lnTo>
                  <a:pt x="577735" y="0"/>
                </a:lnTo>
                <a:lnTo>
                  <a:pt x="0" y="0"/>
                </a:lnTo>
                <a:lnTo>
                  <a:pt x="0" y="5842"/>
                </a:lnTo>
                <a:lnTo>
                  <a:pt x="571906" y="5842"/>
                </a:lnTo>
                <a:lnTo>
                  <a:pt x="571906" y="282816"/>
                </a:lnTo>
                <a:lnTo>
                  <a:pt x="862685" y="282816"/>
                </a:lnTo>
                <a:lnTo>
                  <a:pt x="968946" y="175221"/>
                </a:lnTo>
                <a:lnTo>
                  <a:pt x="1844929" y="175221"/>
                </a:lnTo>
                <a:lnTo>
                  <a:pt x="1956181" y="62572"/>
                </a:lnTo>
                <a:lnTo>
                  <a:pt x="2161794" y="62572"/>
                </a:lnTo>
                <a:lnTo>
                  <a:pt x="2161794" y="56667"/>
                </a:lnTo>
                <a:close/>
              </a:path>
            </a:pathLst>
          </a:custGeom>
          <a:solidFill>
            <a:srgbClr val="FFC32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8150" y="8848726"/>
            <a:ext cx="180975" cy="95248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9525" y="8724899"/>
            <a:ext cx="2057400" cy="723900"/>
          </a:xfrm>
          <a:custGeom>
            <a:avLst/>
            <a:gdLst/>
            <a:ahLst/>
            <a:cxnLst/>
            <a:rect l="l" t="t" r="r" b="b"/>
            <a:pathLst>
              <a:path w="2057400" h="723900">
                <a:moveTo>
                  <a:pt x="64693" y="289814"/>
                </a:moveTo>
                <a:lnTo>
                  <a:pt x="32346" y="257048"/>
                </a:lnTo>
                <a:lnTo>
                  <a:pt x="0" y="289814"/>
                </a:lnTo>
                <a:lnTo>
                  <a:pt x="32346" y="322465"/>
                </a:lnTo>
                <a:lnTo>
                  <a:pt x="64693" y="289814"/>
                </a:lnTo>
                <a:close/>
              </a:path>
              <a:path w="2057400" h="723900">
                <a:moveTo>
                  <a:pt x="298526" y="690765"/>
                </a:moveTo>
                <a:lnTo>
                  <a:pt x="266192" y="658063"/>
                </a:lnTo>
                <a:lnTo>
                  <a:pt x="233819" y="690765"/>
                </a:lnTo>
                <a:lnTo>
                  <a:pt x="266192" y="723468"/>
                </a:lnTo>
                <a:lnTo>
                  <a:pt x="298526" y="690765"/>
                </a:lnTo>
                <a:close/>
              </a:path>
              <a:path w="2057400" h="723900">
                <a:moveTo>
                  <a:pt x="314147" y="289814"/>
                </a:moveTo>
                <a:lnTo>
                  <a:pt x="281800" y="257048"/>
                </a:lnTo>
                <a:lnTo>
                  <a:pt x="249440" y="289814"/>
                </a:lnTo>
                <a:lnTo>
                  <a:pt x="281800" y="322465"/>
                </a:lnTo>
                <a:lnTo>
                  <a:pt x="314147" y="289814"/>
                </a:lnTo>
                <a:close/>
              </a:path>
              <a:path w="2057400" h="723900">
                <a:moveTo>
                  <a:pt x="471360" y="32766"/>
                </a:moveTo>
                <a:lnTo>
                  <a:pt x="439013" y="0"/>
                </a:lnTo>
                <a:lnTo>
                  <a:pt x="406654" y="32766"/>
                </a:lnTo>
                <a:lnTo>
                  <a:pt x="439013" y="65405"/>
                </a:lnTo>
                <a:lnTo>
                  <a:pt x="471360" y="32766"/>
                </a:lnTo>
                <a:close/>
              </a:path>
              <a:path w="2057400" h="723900">
                <a:moveTo>
                  <a:pt x="657250" y="565175"/>
                </a:moveTo>
                <a:lnTo>
                  <a:pt x="624916" y="532447"/>
                </a:lnTo>
                <a:lnTo>
                  <a:pt x="592556" y="565175"/>
                </a:lnTo>
                <a:lnTo>
                  <a:pt x="624916" y="597877"/>
                </a:lnTo>
                <a:lnTo>
                  <a:pt x="657250" y="565175"/>
                </a:lnTo>
                <a:close/>
              </a:path>
              <a:path w="2057400" h="723900">
                <a:moveTo>
                  <a:pt x="1043736" y="32766"/>
                </a:moveTo>
                <a:lnTo>
                  <a:pt x="1011377" y="0"/>
                </a:lnTo>
                <a:lnTo>
                  <a:pt x="979030" y="32766"/>
                </a:lnTo>
                <a:lnTo>
                  <a:pt x="1011377" y="65405"/>
                </a:lnTo>
                <a:lnTo>
                  <a:pt x="1043736" y="32766"/>
                </a:lnTo>
                <a:close/>
              </a:path>
              <a:path w="2057400" h="723900">
                <a:moveTo>
                  <a:pt x="1160741" y="690765"/>
                </a:moveTo>
                <a:lnTo>
                  <a:pt x="1128382" y="658063"/>
                </a:lnTo>
                <a:lnTo>
                  <a:pt x="1096048" y="690765"/>
                </a:lnTo>
                <a:lnTo>
                  <a:pt x="1128382" y="723468"/>
                </a:lnTo>
                <a:lnTo>
                  <a:pt x="1160741" y="690765"/>
                </a:lnTo>
                <a:close/>
              </a:path>
              <a:path w="2057400" h="723900">
                <a:moveTo>
                  <a:pt x="2056892" y="520369"/>
                </a:moveTo>
                <a:lnTo>
                  <a:pt x="2024507" y="487667"/>
                </a:lnTo>
                <a:lnTo>
                  <a:pt x="1992122" y="520369"/>
                </a:lnTo>
                <a:lnTo>
                  <a:pt x="2024507" y="553085"/>
                </a:lnTo>
                <a:lnTo>
                  <a:pt x="2056892" y="520369"/>
                </a:lnTo>
                <a:close/>
              </a:path>
            </a:pathLst>
          </a:custGeom>
          <a:solidFill>
            <a:srgbClr val="FFC32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8200" y="8201025"/>
            <a:ext cx="161925" cy="17145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76375" y="9686925"/>
            <a:ext cx="161925" cy="161925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4375" y="9601200"/>
            <a:ext cx="95250" cy="17145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47775" y="8391525"/>
            <a:ext cx="95250" cy="180975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677150" y="4733924"/>
            <a:ext cx="10610850" cy="5553073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710112" y="704850"/>
            <a:ext cx="5510212" cy="619125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372475" y="647700"/>
            <a:ext cx="9915525" cy="1323975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30882" y="371475"/>
            <a:ext cx="3881899" cy="1295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29021" y="763270"/>
            <a:ext cx="4228465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76069" y="3530663"/>
            <a:ext cx="13044805" cy="2584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656441" y="9951918"/>
            <a:ext cx="1926590" cy="302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/>
              <a:t>Ano</a:t>
            </a:r>
            <a:r>
              <a:rPr spc="-20" dirty="0"/>
              <a:t> </a:t>
            </a:r>
            <a:r>
              <a:rPr spc="-10" dirty="0"/>
              <a:t>Académico: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3741018" y="9960536"/>
            <a:ext cx="1143000" cy="298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2025/2026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4011275" cy="10287000"/>
            </a:xfrm>
            <a:custGeom>
              <a:avLst/>
              <a:gdLst/>
              <a:ahLst/>
              <a:cxnLst/>
              <a:rect l="l" t="t" r="r" b="b"/>
              <a:pathLst>
                <a:path w="14011275" h="10287000">
                  <a:moveTo>
                    <a:pt x="3722751" y="0"/>
                  </a:moveTo>
                  <a:lnTo>
                    <a:pt x="0" y="0"/>
                  </a:lnTo>
                  <a:lnTo>
                    <a:pt x="0" y="10286998"/>
                  </a:lnTo>
                  <a:lnTo>
                    <a:pt x="14011148" y="10286998"/>
                  </a:lnTo>
                  <a:lnTo>
                    <a:pt x="3722751" y="0"/>
                  </a:lnTo>
                  <a:close/>
                </a:path>
              </a:pathLst>
            </a:custGeom>
            <a:solidFill>
              <a:srgbClr val="FFC324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00325" y="0"/>
              <a:ext cx="3656965" cy="3619500"/>
            </a:xfrm>
            <a:custGeom>
              <a:avLst/>
              <a:gdLst/>
              <a:ahLst/>
              <a:cxnLst/>
              <a:rect l="l" t="t" r="r" b="b"/>
              <a:pathLst>
                <a:path w="3656965" h="3619500">
                  <a:moveTo>
                    <a:pt x="80772" y="0"/>
                  </a:moveTo>
                  <a:lnTo>
                    <a:pt x="0" y="0"/>
                  </a:lnTo>
                  <a:lnTo>
                    <a:pt x="3616579" y="3619119"/>
                  </a:lnTo>
                  <a:lnTo>
                    <a:pt x="3656965" y="3578732"/>
                  </a:lnTo>
                  <a:lnTo>
                    <a:pt x="80772" y="0"/>
                  </a:lnTo>
                  <a:close/>
                </a:path>
              </a:pathLst>
            </a:custGeom>
            <a:solidFill>
              <a:srgbClr val="F7F9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775" y="3552825"/>
              <a:ext cx="6467475" cy="28003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6200" y="9505956"/>
              <a:ext cx="209550" cy="781050"/>
            </a:xfrm>
            <a:custGeom>
              <a:avLst/>
              <a:gdLst/>
              <a:ahLst/>
              <a:cxnLst/>
              <a:rect l="l" t="t" r="r" b="b"/>
              <a:pathLst>
                <a:path w="209550" h="781050">
                  <a:moveTo>
                    <a:pt x="209550" y="0"/>
                  </a:moveTo>
                  <a:lnTo>
                    <a:pt x="0" y="0"/>
                  </a:lnTo>
                  <a:lnTo>
                    <a:pt x="0" y="780897"/>
                  </a:lnTo>
                  <a:lnTo>
                    <a:pt x="209550" y="780897"/>
                  </a:lnTo>
                  <a:lnTo>
                    <a:pt x="209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39737" y="2707185"/>
            <a:ext cx="5696585" cy="712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0" spc="335" dirty="0">
                <a:solidFill>
                  <a:srgbClr val="F7F9FC"/>
                </a:solidFill>
                <a:latin typeface="Tahoma"/>
                <a:cs typeface="Tahoma"/>
              </a:rPr>
              <a:t>PROGRAMAÇÃO</a:t>
            </a:r>
            <a:r>
              <a:rPr sz="4500" spc="640" dirty="0">
                <a:solidFill>
                  <a:srgbClr val="F7F9FC"/>
                </a:solidFill>
                <a:latin typeface="Tahoma"/>
                <a:cs typeface="Tahoma"/>
              </a:rPr>
              <a:t> </a:t>
            </a:r>
            <a:r>
              <a:rPr sz="4500" spc="-810" dirty="0">
                <a:solidFill>
                  <a:srgbClr val="F7F9FC"/>
                </a:solidFill>
                <a:latin typeface="Tahoma"/>
                <a:cs typeface="Tahoma"/>
              </a:rPr>
              <a:t>II</a:t>
            </a:r>
            <a:endParaRPr sz="45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252950" y="9544050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931" y="9098137"/>
            <a:ext cx="3217863" cy="1347804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lang="pt-PT" sz="3000" b="1" spc="-82" baseline="-4166" dirty="0" smtClean="0">
                <a:latin typeface="Tahoma"/>
                <a:cs typeface="Tahoma"/>
              </a:rPr>
              <a:t>Professora</a:t>
            </a:r>
            <a:r>
              <a:rPr sz="3000" b="1" spc="-82" baseline="-4166" dirty="0" smtClean="0">
                <a:latin typeface="Tahoma"/>
                <a:cs typeface="Tahoma"/>
              </a:rPr>
              <a:t>:</a:t>
            </a:r>
            <a:r>
              <a:rPr sz="3000" b="1" spc="89" baseline="-4166" dirty="0" smtClean="0">
                <a:latin typeface="Tahoma"/>
                <a:cs typeface="Tahoma"/>
              </a:rPr>
              <a:t> </a:t>
            </a:r>
            <a:r>
              <a:rPr sz="2000" dirty="0">
                <a:latin typeface="Trebuchet MS"/>
                <a:cs typeface="Trebuchet MS"/>
              </a:rPr>
              <a:t>Sílvia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90" dirty="0">
                <a:latin typeface="Trebuchet MS"/>
                <a:cs typeface="Trebuchet MS"/>
              </a:rPr>
              <a:t>António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3000" b="1" baseline="1388" dirty="0">
                <a:latin typeface="Tahoma"/>
                <a:cs typeface="Tahoma"/>
              </a:rPr>
              <a:t>Área:</a:t>
            </a:r>
            <a:r>
              <a:rPr sz="3000" b="1" spc="120" baseline="1388" dirty="0">
                <a:latin typeface="Tahoma"/>
                <a:cs typeface="Tahoma"/>
              </a:rPr>
              <a:t>  </a:t>
            </a:r>
            <a:r>
              <a:rPr sz="2000" spc="-25" dirty="0" smtClean="0">
                <a:latin typeface="Trebuchet MS"/>
                <a:cs typeface="Trebuchet MS"/>
              </a:rPr>
              <a:t>DET</a:t>
            </a:r>
            <a:endParaRPr lang="pt-PT" sz="2000" spc="-25" dirty="0" smtClean="0">
              <a:latin typeface="Trebuchet MS"/>
              <a:cs typeface="Trebuchet MS"/>
            </a:endParaRPr>
          </a:p>
          <a:p>
            <a:pPr marL="12700">
              <a:spcBef>
                <a:spcPts val="215"/>
              </a:spcBef>
            </a:pPr>
            <a:r>
              <a:rPr lang="en-US" sz="20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EINF-T3 · </a:t>
            </a:r>
            <a:r>
              <a:rPr lang="en-US" sz="2000" b="1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Grupo</a:t>
            </a:r>
            <a:r>
              <a:rPr lang="en-US" sz="20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17</a:t>
            </a: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endParaRPr sz="2000" dirty="0">
              <a:latin typeface="Trebuchet MS"/>
              <a:cs typeface="Trebuchet MS"/>
            </a:endParaRPr>
          </a:p>
        </p:txBody>
      </p:sp>
      <p:sp>
        <p:nvSpPr>
          <p:cNvPr id="17" name="object 8"/>
          <p:cNvSpPr txBox="1"/>
          <p:nvPr/>
        </p:nvSpPr>
        <p:spPr>
          <a:xfrm>
            <a:off x="487103" y="6233160"/>
            <a:ext cx="9647497" cy="7059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pt-PT" sz="4500" spc="335" dirty="0" smtClean="0">
                <a:solidFill>
                  <a:srgbClr val="F7F9FC"/>
                </a:solidFill>
                <a:latin typeface="Tahoma"/>
                <a:cs typeface="Tahoma"/>
              </a:rPr>
              <a:t>KEBA – Scanner de Phishing</a:t>
            </a:r>
            <a:endParaRPr sz="4500" dirty="0">
              <a:latin typeface="Tahoma"/>
              <a:cs typeface="Tahoma"/>
            </a:endParaRPr>
          </a:p>
        </p:txBody>
      </p:sp>
      <p:sp>
        <p:nvSpPr>
          <p:cNvPr id="18" name="object 10"/>
          <p:cNvSpPr txBox="1"/>
          <p:nvPr/>
        </p:nvSpPr>
        <p:spPr>
          <a:xfrm>
            <a:off x="439736" y="7923450"/>
            <a:ext cx="4132264" cy="1040027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lang="pt-PT" sz="3000" b="1" spc="-82" baseline="-4166" dirty="0" smtClean="0">
                <a:solidFill>
                  <a:schemeClr val="tx1"/>
                </a:solidFill>
                <a:latin typeface="Tahoma"/>
                <a:cs typeface="Tahoma"/>
              </a:rPr>
              <a:t>20243518 </a:t>
            </a:r>
            <a:r>
              <a:rPr lang="pt-PT" sz="2000" b="1" spc="-82" baseline="-4166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sz="2000" b="1" spc="89" baseline="-4166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Mário</a:t>
            </a:r>
            <a:r>
              <a:rPr lang="en-US" sz="20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João</a:t>
            </a:r>
            <a:endParaRPr lang="en-US" sz="2000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lang="en-US" sz="20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20240238</a:t>
            </a:r>
            <a:r>
              <a:rPr lang="en-US" sz="2000" dirty="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2000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Márcio</a:t>
            </a:r>
            <a:r>
              <a:rPr lang="en-US" sz="20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Simão</a:t>
            </a:r>
            <a:r>
              <a:rPr lang="en-US" sz="20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lang="pt-PT" sz="20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20240829</a:t>
            </a:r>
            <a:r>
              <a:rPr lang="pt-PT" sz="2000" dirty="0" smtClean="0">
                <a:solidFill>
                  <a:schemeClr val="tx1"/>
                </a:solidFill>
                <a:latin typeface="Calibri" pitchFamily="34" charset="0"/>
                <a:cs typeface="Calibri" pitchFamily="34" charset="-120"/>
              </a:rPr>
              <a:t> – </a:t>
            </a:r>
            <a:r>
              <a:rPr lang="pt-PT" sz="20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Sebastião Luvumbo</a:t>
            </a:r>
            <a:endParaRPr sz="20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pt-PT" sz="3050" spc="-229" dirty="0" smtClean="0"/>
              <a:t>TEMA</a:t>
            </a:r>
            <a:endParaRPr sz="3050" dirty="0"/>
          </a:p>
        </p:txBody>
      </p:sp>
      <p:sp>
        <p:nvSpPr>
          <p:cNvPr id="3" name="object 3"/>
          <p:cNvSpPr txBox="1"/>
          <p:nvPr/>
        </p:nvSpPr>
        <p:spPr>
          <a:xfrm>
            <a:off x="17151731" y="763523"/>
            <a:ext cx="244475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-170" dirty="0">
                <a:solidFill>
                  <a:srgbClr val="888888"/>
                </a:solidFill>
                <a:latin typeface="Tahoma"/>
                <a:cs typeface="Tahoma"/>
              </a:rPr>
              <a:t>2</a:t>
            </a:r>
            <a:endParaRPr sz="3050">
              <a:latin typeface="Tahoma"/>
              <a:cs typeface="Tahoma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2125980"/>
            <a:ext cx="1009650" cy="10096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743200" y="231267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problema do phishing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1143000" y="3543300"/>
            <a:ext cx="7010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Emails fraudulentos imitam bancos, lotarias e serviços para roubar dados pessoais e bancários.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Baseado no exercício 15.10 de Deitel — análise de texto e ficheiros.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Keba automatiza a deteção: palavras suspeitas + domínios da lista negra.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1" y="2125980"/>
            <a:ext cx="944880" cy="100964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896600" y="240220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KEBA “</a:t>
            </a:r>
            <a:r>
              <a:rPr lang="en-US" sz="3200" b="1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Cuidado</a:t>
            </a:r>
            <a:r>
              <a:rPr lang="en-US" sz="32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</a:t>
            </a:r>
          </a:p>
        </p:txBody>
      </p:sp>
      <p:sp>
        <p:nvSpPr>
          <p:cNvPr id="14" name="Text 9"/>
          <p:cNvSpPr/>
          <p:nvPr/>
        </p:nvSpPr>
        <p:spPr>
          <a:xfrm>
            <a:off x="9718965" y="3992648"/>
            <a:ext cx="670559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Palavra de origem Kikongo e Lingala, línguas de Angola e da RD Congo, usada para alertar de um perigo iminente.</a:t>
            </a:r>
          </a:p>
        </p:txBody>
      </p:sp>
      <p:sp>
        <p:nvSpPr>
          <p:cNvPr id="15" name="Text 11"/>
          <p:cNvSpPr/>
          <p:nvPr/>
        </p:nvSpPr>
        <p:spPr>
          <a:xfrm>
            <a:off x="10691554" y="5869707"/>
            <a:ext cx="4572000" cy="1705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Tal como a palavra na língua original, o sistema diz ao utilizador: "tem cuidado, este email é perigoso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29021" y="763270"/>
            <a:ext cx="4228465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pt-PT" sz="3050" spc="-45" dirty="0" smtClean="0"/>
              <a:t>SOLUÇÃO</a:t>
            </a:r>
            <a:endParaRPr sz="3050" dirty="0"/>
          </a:p>
        </p:txBody>
      </p:sp>
      <p:sp>
        <p:nvSpPr>
          <p:cNvPr id="3" name="object 3"/>
          <p:cNvSpPr txBox="1"/>
          <p:nvPr/>
        </p:nvSpPr>
        <p:spPr>
          <a:xfrm>
            <a:off x="17151731" y="763523"/>
            <a:ext cx="244475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-170" dirty="0">
                <a:solidFill>
                  <a:srgbClr val="888888"/>
                </a:solidFill>
                <a:latin typeface="Tahoma"/>
                <a:cs typeface="Tahoma"/>
              </a:rPr>
              <a:t>3</a:t>
            </a:r>
            <a:endParaRPr sz="3050">
              <a:latin typeface="Tahoma"/>
              <a:cs typeface="Tahoma"/>
            </a:endParaRPr>
          </a:p>
        </p:txBody>
      </p:sp>
      <p:sp>
        <p:nvSpPr>
          <p:cNvPr id="10" name="Elipse 9"/>
          <p:cNvSpPr/>
          <p:nvPr/>
        </p:nvSpPr>
        <p:spPr>
          <a:xfrm>
            <a:off x="1643085" y="2628899"/>
            <a:ext cx="1219200" cy="931164"/>
          </a:xfrm>
          <a:prstGeom prst="ellipse">
            <a:avLst/>
          </a:prstGeom>
          <a:solidFill>
            <a:srgbClr val="E5E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70" y="2832566"/>
            <a:ext cx="523829" cy="52382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66800" y="3763730"/>
            <a:ext cx="2743200" cy="3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Analisar</a:t>
            </a:r>
            <a:r>
              <a:rPr lang="en-US" sz="2400" b="1" dirty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Ficheiro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Elipse 12"/>
          <p:cNvSpPr/>
          <p:nvPr/>
        </p:nvSpPr>
        <p:spPr>
          <a:xfrm>
            <a:off x="5470698" y="2611581"/>
            <a:ext cx="1219200" cy="931164"/>
          </a:xfrm>
          <a:prstGeom prst="ellipse">
            <a:avLst/>
          </a:prstGeom>
          <a:solidFill>
            <a:srgbClr val="E5E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5"/>
          <p:cNvSpPr/>
          <p:nvPr/>
        </p:nvSpPr>
        <p:spPr>
          <a:xfrm>
            <a:off x="5000053" y="3763730"/>
            <a:ext cx="2743200" cy="3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</a:t>
            </a:r>
            <a:r>
              <a:rPr lang="en-US" sz="2800" b="1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lang="en-US" sz="28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istórico</a:t>
            </a:r>
            <a:endParaRPr lang="en-US" sz="2800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943" y="2785808"/>
            <a:ext cx="582710" cy="582710"/>
          </a:xfrm>
          <a:prstGeom prst="rect">
            <a:avLst/>
          </a:prstGeom>
        </p:spPr>
      </p:pic>
      <p:sp>
        <p:nvSpPr>
          <p:cNvPr id="17" name="Elipse 16"/>
          <p:cNvSpPr/>
          <p:nvPr/>
        </p:nvSpPr>
        <p:spPr>
          <a:xfrm>
            <a:off x="9372600" y="2611581"/>
            <a:ext cx="1219200" cy="931164"/>
          </a:xfrm>
          <a:prstGeom prst="ellipse">
            <a:avLst/>
          </a:prstGeom>
          <a:solidFill>
            <a:srgbClr val="E5E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5"/>
          <p:cNvSpPr/>
          <p:nvPr/>
        </p:nvSpPr>
        <p:spPr>
          <a:xfrm>
            <a:off x="8533277" y="3611330"/>
            <a:ext cx="3431876" cy="69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Palavras</a:t>
            </a:r>
            <a:r>
              <a:rPr lang="en-US" sz="2800" b="1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suspeitas</a:t>
            </a:r>
            <a:endParaRPr lang="en-US" sz="2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184" y="2822364"/>
            <a:ext cx="534031" cy="534031"/>
          </a:xfrm>
          <a:prstGeom prst="rect">
            <a:avLst/>
          </a:prstGeom>
        </p:spPr>
      </p:pic>
      <p:sp>
        <p:nvSpPr>
          <p:cNvPr id="21" name="Elipse 20"/>
          <p:cNvSpPr/>
          <p:nvPr/>
        </p:nvSpPr>
        <p:spPr>
          <a:xfrm>
            <a:off x="13868400" y="2611581"/>
            <a:ext cx="1219200" cy="931164"/>
          </a:xfrm>
          <a:prstGeom prst="ellipse">
            <a:avLst/>
          </a:prstGeom>
          <a:solidFill>
            <a:srgbClr val="E5E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5"/>
          <p:cNvSpPr/>
          <p:nvPr/>
        </p:nvSpPr>
        <p:spPr>
          <a:xfrm>
            <a:off x="13563600" y="3763730"/>
            <a:ext cx="2743200" cy="3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Lista</a:t>
            </a:r>
            <a:r>
              <a:rPr lang="en-US" sz="2800" b="1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Negra</a:t>
            </a:r>
            <a:endParaRPr lang="en-US" sz="2800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Elipse 23"/>
          <p:cNvSpPr/>
          <p:nvPr/>
        </p:nvSpPr>
        <p:spPr>
          <a:xfrm>
            <a:off x="1576752" y="5372100"/>
            <a:ext cx="1219200" cy="931164"/>
          </a:xfrm>
          <a:prstGeom prst="ellipse">
            <a:avLst/>
          </a:prstGeom>
          <a:solidFill>
            <a:srgbClr val="E5E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5"/>
          <p:cNvSpPr/>
          <p:nvPr/>
        </p:nvSpPr>
        <p:spPr>
          <a:xfrm>
            <a:off x="1424352" y="6500004"/>
            <a:ext cx="2743200" cy="3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</a:t>
            </a:r>
            <a:r>
              <a:rPr lang="en-US" sz="28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ório</a:t>
            </a:r>
            <a:endParaRPr lang="en-US" sz="2800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Elipse 26"/>
          <p:cNvSpPr/>
          <p:nvPr/>
        </p:nvSpPr>
        <p:spPr>
          <a:xfrm>
            <a:off x="5442328" y="5347855"/>
            <a:ext cx="1219200" cy="931164"/>
          </a:xfrm>
          <a:prstGeom prst="ellipse">
            <a:avLst/>
          </a:prstGeom>
          <a:solidFill>
            <a:srgbClr val="E5E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5"/>
          <p:cNvSpPr/>
          <p:nvPr/>
        </p:nvSpPr>
        <p:spPr>
          <a:xfrm>
            <a:off x="5181600" y="6500004"/>
            <a:ext cx="2743200" cy="3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Estatísticas</a:t>
            </a:r>
            <a:endParaRPr lang="en-US" sz="2800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Elipse 29"/>
          <p:cNvSpPr/>
          <p:nvPr/>
        </p:nvSpPr>
        <p:spPr>
          <a:xfrm>
            <a:off x="9715184" y="5347855"/>
            <a:ext cx="1219200" cy="931164"/>
          </a:xfrm>
          <a:prstGeom prst="ellipse">
            <a:avLst/>
          </a:prstGeom>
          <a:solidFill>
            <a:srgbClr val="E5E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5"/>
          <p:cNvSpPr/>
          <p:nvPr/>
        </p:nvSpPr>
        <p:spPr>
          <a:xfrm>
            <a:off x="9982199" y="6472745"/>
            <a:ext cx="2743200" cy="3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Sair</a:t>
            </a:r>
            <a:endParaRPr lang="en-US" sz="2800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0" y="2817603"/>
            <a:ext cx="528401" cy="528401"/>
          </a:xfrm>
          <a:prstGeom prst="rect">
            <a:avLst/>
          </a:prstGeom>
        </p:spPr>
      </p:pic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9118" y="5559142"/>
            <a:ext cx="508589" cy="508589"/>
          </a:xfrm>
          <a:prstGeom prst="rect">
            <a:avLst/>
          </a:prstGeom>
        </p:spPr>
      </p:pic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8943" y="5495010"/>
            <a:ext cx="584789" cy="584789"/>
          </a:xfrm>
          <a:prstGeom prst="rect">
            <a:avLst/>
          </a:prstGeom>
        </p:spPr>
      </p:pic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0866" y="5559142"/>
            <a:ext cx="559989" cy="559989"/>
          </a:xfrm>
          <a:prstGeom prst="rect">
            <a:avLst/>
          </a:prstGeom>
        </p:spPr>
      </p:pic>
      <p:sp>
        <p:nvSpPr>
          <p:cNvPr id="37" name="Retângulo 36"/>
          <p:cNvSpPr/>
          <p:nvPr/>
        </p:nvSpPr>
        <p:spPr>
          <a:xfrm>
            <a:off x="13258800" y="5067300"/>
            <a:ext cx="3048000" cy="2362200"/>
          </a:xfrm>
          <a:prstGeom prst="rect">
            <a:avLst/>
          </a:prstGeom>
          <a:solidFill>
            <a:srgbClr val="E5E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 38"/>
          <p:cNvSpPr/>
          <p:nvPr/>
        </p:nvSpPr>
        <p:spPr>
          <a:xfrm>
            <a:off x="13680946" y="5555018"/>
            <a:ext cx="2203704" cy="1472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Cada palavra tem um peso (20–40). A soma define o nível de risco do email.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29021" y="763270"/>
            <a:ext cx="6210554" cy="97847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305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ARQUITETURA DO CÓDIGO</a:t>
            </a:r>
            <a:r>
              <a:rPr lang="en-US" sz="3050" dirty="0"/>
              <a:t/>
            </a:r>
            <a:br>
              <a:rPr lang="en-US" sz="3050" dirty="0"/>
            </a:br>
            <a:endParaRPr sz="3050" dirty="0"/>
          </a:p>
        </p:txBody>
      </p:sp>
      <p:sp>
        <p:nvSpPr>
          <p:cNvPr id="3" name="object 3"/>
          <p:cNvSpPr txBox="1"/>
          <p:nvPr/>
        </p:nvSpPr>
        <p:spPr>
          <a:xfrm>
            <a:off x="17151731" y="763523"/>
            <a:ext cx="244475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-170" dirty="0">
                <a:solidFill>
                  <a:srgbClr val="888888"/>
                </a:solidFill>
                <a:latin typeface="Tahoma"/>
                <a:cs typeface="Tahoma"/>
              </a:rPr>
              <a:t>4</a:t>
            </a:r>
            <a:endParaRPr sz="3050">
              <a:latin typeface="Tahoma"/>
              <a:cs typeface="Tahoma"/>
            </a:endParaRPr>
          </a:p>
        </p:txBody>
      </p:sp>
      <p:sp>
        <p:nvSpPr>
          <p:cNvPr id="26" name="Shape 2"/>
          <p:cNvSpPr/>
          <p:nvPr/>
        </p:nvSpPr>
        <p:spPr>
          <a:xfrm>
            <a:off x="1066799" y="2552700"/>
            <a:ext cx="16084931" cy="914400"/>
          </a:xfrm>
          <a:prstGeom prst="roundRect">
            <a:avLst>
              <a:gd name="adj" fmla="val 12195"/>
            </a:avLst>
          </a:prstGeom>
          <a:solidFill>
            <a:srgbClr val="F7F7E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Elipse 26"/>
          <p:cNvSpPr/>
          <p:nvPr/>
        </p:nvSpPr>
        <p:spPr>
          <a:xfrm>
            <a:off x="1295400" y="2628900"/>
            <a:ext cx="890952" cy="762000"/>
          </a:xfrm>
          <a:prstGeom prst="ellipse">
            <a:avLst/>
          </a:prstGeom>
          <a:solidFill>
            <a:srgbClr val="E5E527"/>
          </a:solidFill>
          <a:ln>
            <a:solidFill>
              <a:srgbClr val="E5E5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285" y="2824309"/>
            <a:ext cx="371181" cy="371181"/>
          </a:xfrm>
          <a:prstGeom prst="rect">
            <a:avLst/>
          </a:prstGeom>
        </p:spPr>
      </p:pic>
      <p:sp>
        <p:nvSpPr>
          <p:cNvPr id="29" name="Text 5"/>
          <p:cNvSpPr/>
          <p:nvPr/>
        </p:nvSpPr>
        <p:spPr>
          <a:xfrm>
            <a:off x="5629020" y="2715580"/>
            <a:ext cx="112873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Estrutura de dados de um email: remetente, assunto, corpo, pontuação e palavras encontradas</a:t>
            </a:r>
            <a:r>
              <a:rPr lang="en-US" sz="12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30" name="Text 4"/>
          <p:cNvSpPr/>
          <p:nvPr/>
        </p:nvSpPr>
        <p:spPr>
          <a:xfrm>
            <a:off x="2446237" y="269187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Email.java</a:t>
            </a:r>
          </a:p>
        </p:txBody>
      </p:sp>
      <p:sp>
        <p:nvSpPr>
          <p:cNvPr id="32" name="Shape 2"/>
          <p:cNvSpPr/>
          <p:nvPr/>
        </p:nvSpPr>
        <p:spPr>
          <a:xfrm>
            <a:off x="1066799" y="3789156"/>
            <a:ext cx="16084931" cy="914400"/>
          </a:xfrm>
          <a:prstGeom prst="roundRect">
            <a:avLst>
              <a:gd name="adj" fmla="val 12195"/>
            </a:avLst>
          </a:prstGeom>
          <a:solidFill>
            <a:srgbClr val="F7F7E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Elipse 32"/>
          <p:cNvSpPr/>
          <p:nvPr/>
        </p:nvSpPr>
        <p:spPr>
          <a:xfrm>
            <a:off x="1295400" y="3865356"/>
            <a:ext cx="890952" cy="762000"/>
          </a:xfrm>
          <a:prstGeom prst="ellipse">
            <a:avLst/>
          </a:prstGeom>
          <a:solidFill>
            <a:srgbClr val="E5E527"/>
          </a:solidFill>
          <a:ln>
            <a:solidFill>
              <a:srgbClr val="E5E5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 5"/>
          <p:cNvSpPr/>
          <p:nvPr/>
        </p:nvSpPr>
        <p:spPr>
          <a:xfrm>
            <a:off x="5629020" y="3952036"/>
            <a:ext cx="112873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Leitura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escrita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todos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ficheiros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.txt —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palavras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domínios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emails e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histórico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ext 4"/>
          <p:cNvSpPr/>
          <p:nvPr/>
        </p:nvSpPr>
        <p:spPr>
          <a:xfrm>
            <a:off x="2446237" y="39283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GestorFicheiro.java</a:t>
            </a:r>
            <a:endParaRPr lang="en-US" sz="20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Shape 2"/>
          <p:cNvSpPr/>
          <p:nvPr/>
        </p:nvSpPr>
        <p:spPr>
          <a:xfrm>
            <a:off x="1066799" y="5067300"/>
            <a:ext cx="16084931" cy="914400"/>
          </a:xfrm>
          <a:prstGeom prst="roundRect">
            <a:avLst>
              <a:gd name="adj" fmla="val 12195"/>
            </a:avLst>
          </a:prstGeom>
          <a:solidFill>
            <a:srgbClr val="F7F7E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Elipse 37"/>
          <p:cNvSpPr/>
          <p:nvPr/>
        </p:nvSpPr>
        <p:spPr>
          <a:xfrm>
            <a:off x="1295400" y="5143500"/>
            <a:ext cx="890952" cy="762000"/>
          </a:xfrm>
          <a:prstGeom prst="ellipse">
            <a:avLst/>
          </a:prstGeom>
          <a:solidFill>
            <a:srgbClr val="E5E527"/>
          </a:solidFill>
          <a:ln>
            <a:solidFill>
              <a:srgbClr val="E5E5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 5"/>
          <p:cNvSpPr/>
          <p:nvPr/>
        </p:nvSpPr>
        <p:spPr>
          <a:xfrm>
            <a:off x="5629020" y="5230180"/>
            <a:ext cx="112873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Lógica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deteção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compara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texto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com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palavras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suspeitas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remetente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com a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lista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negra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Text 4"/>
          <p:cNvSpPr/>
          <p:nvPr/>
        </p:nvSpPr>
        <p:spPr>
          <a:xfrm>
            <a:off x="2446236" y="5206476"/>
            <a:ext cx="31827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AnalisadorPhishing</a:t>
            </a:r>
            <a:r>
              <a:rPr lang="en-US" sz="20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.java</a:t>
            </a:r>
            <a:endParaRPr lang="en-US" sz="20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1066799" y="6369689"/>
            <a:ext cx="16084931" cy="914400"/>
          </a:xfrm>
          <a:prstGeom prst="roundRect">
            <a:avLst>
              <a:gd name="adj" fmla="val 12195"/>
            </a:avLst>
          </a:prstGeom>
          <a:solidFill>
            <a:srgbClr val="F7F7E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Elipse 42"/>
          <p:cNvSpPr/>
          <p:nvPr/>
        </p:nvSpPr>
        <p:spPr>
          <a:xfrm>
            <a:off x="1295400" y="6445889"/>
            <a:ext cx="890952" cy="762000"/>
          </a:xfrm>
          <a:prstGeom prst="ellipse">
            <a:avLst/>
          </a:prstGeom>
          <a:solidFill>
            <a:srgbClr val="E5E527"/>
          </a:solidFill>
          <a:ln>
            <a:solidFill>
              <a:srgbClr val="E5E5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 5"/>
          <p:cNvSpPr/>
          <p:nvPr/>
        </p:nvSpPr>
        <p:spPr>
          <a:xfrm>
            <a:off x="5629020" y="6532569"/>
            <a:ext cx="112873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Guarda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resumo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cada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análise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(data, total,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suspeitos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seguros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para o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histórico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" name="Text 4"/>
          <p:cNvSpPr/>
          <p:nvPr/>
        </p:nvSpPr>
        <p:spPr>
          <a:xfrm>
            <a:off x="2446237" y="6508865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RegistoAnalise</a:t>
            </a:r>
            <a:r>
              <a:rPr lang="en-US" sz="20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.java</a:t>
            </a:r>
            <a:endParaRPr lang="en-US" sz="20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" name="Shape 2"/>
          <p:cNvSpPr/>
          <p:nvPr/>
        </p:nvSpPr>
        <p:spPr>
          <a:xfrm>
            <a:off x="1066799" y="7672078"/>
            <a:ext cx="16084931" cy="914400"/>
          </a:xfrm>
          <a:prstGeom prst="roundRect">
            <a:avLst>
              <a:gd name="adj" fmla="val 12195"/>
            </a:avLst>
          </a:prstGeom>
          <a:solidFill>
            <a:srgbClr val="F7F7E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Elipse 47"/>
          <p:cNvSpPr/>
          <p:nvPr/>
        </p:nvSpPr>
        <p:spPr>
          <a:xfrm>
            <a:off x="1295400" y="7748278"/>
            <a:ext cx="890952" cy="762000"/>
          </a:xfrm>
          <a:prstGeom prst="ellipse">
            <a:avLst/>
          </a:prstGeom>
          <a:solidFill>
            <a:srgbClr val="E5E527"/>
          </a:solidFill>
          <a:ln>
            <a:solidFill>
              <a:srgbClr val="E5E5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 5"/>
          <p:cNvSpPr/>
          <p:nvPr/>
        </p:nvSpPr>
        <p:spPr>
          <a:xfrm>
            <a:off x="5629020" y="7834958"/>
            <a:ext cx="112873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Classe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principal: menu,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ciclo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programa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métodos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relatório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estatísticas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1" name="Text 4"/>
          <p:cNvSpPr/>
          <p:nvPr/>
        </p:nvSpPr>
        <p:spPr>
          <a:xfrm>
            <a:off x="2446237" y="781125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Keba.java</a:t>
            </a:r>
            <a:endParaRPr lang="en-US" sz="20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285" y="4062759"/>
            <a:ext cx="367193" cy="367193"/>
          </a:xfrm>
          <a:prstGeom prst="rect">
            <a:avLst/>
          </a:prstGeom>
        </p:spPr>
      </p:pic>
      <p:pic>
        <p:nvPicPr>
          <p:cNvPr id="5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285" y="5340903"/>
            <a:ext cx="367193" cy="367193"/>
          </a:xfrm>
          <a:prstGeom prst="rect">
            <a:avLst/>
          </a:prstGeom>
        </p:spPr>
      </p:pic>
      <p:pic>
        <p:nvPicPr>
          <p:cNvPr id="5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9231" y="6660204"/>
            <a:ext cx="384810" cy="384810"/>
          </a:xfrm>
          <a:prstGeom prst="rect">
            <a:avLst/>
          </a:prstGeom>
        </p:spPr>
      </p:pic>
      <p:pic>
        <p:nvPicPr>
          <p:cNvPr id="5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7238" y="7937635"/>
            <a:ext cx="383286" cy="3832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29021" y="763270"/>
            <a:ext cx="6334379" cy="97847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305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Como </a:t>
            </a:r>
            <a:r>
              <a:rPr lang="en-US" sz="30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</a:t>
            </a:r>
            <a:r>
              <a:rPr lang="en-US" sz="305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Keba</a:t>
            </a:r>
            <a:r>
              <a:rPr lang="en-US" sz="30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05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Analisa</a:t>
            </a:r>
            <a:r>
              <a:rPr lang="en-US" sz="30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um Email</a:t>
            </a:r>
            <a:r>
              <a:rPr lang="en-US" sz="3200" dirty="0"/>
              <a:t/>
            </a:r>
            <a:br>
              <a:rPr lang="en-US" sz="3200" dirty="0"/>
            </a:br>
            <a:endParaRPr sz="3050" dirty="0"/>
          </a:p>
        </p:txBody>
      </p:sp>
      <p:sp>
        <p:nvSpPr>
          <p:cNvPr id="3" name="object 3"/>
          <p:cNvSpPr txBox="1"/>
          <p:nvPr/>
        </p:nvSpPr>
        <p:spPr>
          <a:xfrm>
            <a:off x="17151731" y="763523"/>
            <a:ext cx="244475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-170" dirty="0">
                <a:solidFill>
                  <a:srgbClr val="888888"/>
                </a:solidFill>
                <a:latin typeface="Tahoma"/>
                <a:cs typeface="Tahoma"/>
              </a:rPr>
              <a:t>5</a:t>
            </a:r>
            <a:endParaRPr sz="3050">
              <a:latin typeface="Tahoma"/>
              <a:cs typeface="Tahoma"/>
            </a:endParaRPr>
          </a:p>
        </p:txBody>
      </p:sp>
      <p:sp>
        <p:nvSpPr>
          <p:cNvPr id="18" name="Text 1"/>
          <p:cNvSpPr/>
          <p:nvPr/>
        </p:nvSpPr>
        <p:spPr>
          <a:xfrm>
            <a:off x="685800" y="2019300"/>
            <a:ext cx="5867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Fluxo da Opção 1, do ficheiro de entrada ao resultado no </a:t>
            </a:r>
            <a:r>
              <a:rPr lang="en-US" sz="1600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ecrã</a:t>
            </a:r>
            <a:r>
              <a:rPr lang="en-US" sz="16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Shape 3"/>
          <p:cNvSpPr/>
          <p:nvPr/>
        </p:nvSpPr>
        <p:spPr>
          <a:xfrm>
            <a:off x="990600" y="3467100"/>
            <a:ext cx="2026920" cy="25908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4"/>
          <p:cNvSpPr/>
          <p:nvPr/>
        </p:nvSpPr>
        <p:spPr>
          <a:xfrm>
            <a:off x="1760220" y="3668268"/>
            <a:ext cx="640080" cy="640080"/>
          </a:xfrm>
          <a:prstGeom prst="ellipse">
            <a:avLst/>
          </a:prstGeom>
          <a:solidFill>
            <a:srgbClr val="EAF6F5"/>
          </a:solidFill>
          <a:ln/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839" y="3821887"/>
            <a:ext cx="332842" cy="332842"/>
          </a:xfrm>
          <a:prstGeom prst="rect">
            <a:avLst/>
          </a:prstGeom>
        </p:spPr>
      </p:pic>
      <p:sp>
        <p:nvSpPr>
          <p:cNvPr id="32" name="Text 6"/>
          <p:cNvSpPr/>
          <p:nvPr/>
        </p:nvSpPr>
        <p:spPr>
          <a:xfrm>
            <a:off x="1234440" y="44729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Ler emails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Text 7"/>
          <p:cNvSpPr/>
          <p:nvPr/>
        </p:nvSpPr>
        <p:spPr>
          <a:xfrm>
            <a:off x="1234440" y="49758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6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emails_entrada.txt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4000500" y="3467100"/>
            <a:ext cx="2026920" cy="25908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4"/>
          <p:cNvSpPr/>
          <p:nvPr/>
        </p:nvSpPr>
        <p:spPr>
          <a:xfrm>
            <a:off x="4556760" y="3668268"/>
            <a:ext cx="640080" cy="640080"/>
          </a:xfrm>
          <a:prstGeom prst="ellipse">
            <a:avLst/>
          </a:prstGeom>
          <a:solidFill>
            <a:srgbClr val="EAF6F5"/>
          </a:solidFill>
          <a:ln/>
        </p:spPr>
      </p:sp>
      <p:sp>
        <p:nvSpPr>
          <p:cNvPr id="41" name="Text 6"/>
          <p:cNvSpPr/>
          <p:nvPr/>
        </p:nvSpPr>
        <p:spPr>
          <a:xfrm>
            <a:off x="4030980" y="44729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Comparar</a:t>
            </a:r>
            <a:r>
              <a:rPr lang="en-US" sz="1600" b="1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Palavras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Text 7"/>
          <p:cNvSpPr/>
          <p:nvPr/>
        </p:nvSpPr>
        <p:spPr>
          <a:xfrm>
            <a:off x="4030980" y="49758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smtClean="0">
                <a:solidFill>
                  <a:srgbClr val="5B6B6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Palavras_suspeita</a:t>
            </a:r>
            <a:r>
              <a:rPr lang="en-US" sz="1400" dirty="0" smtClean="0">
                <a:solidFill>
                  <a:srgbClr val="5B6B6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.txt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379" y="3878829"/>
            <a:ext cx="332842" cy="332842"/>
          </a:xfrm>
          <a:prstGeom prst="rect">
            <a:avLst/>
          </a:prstGeom>
        </p:spPr>
      </p:pic>
      <p:sp>
        <p:nvSpPr>
          <p:cNvPr id="44" name="Shape 3"/>
          <p:cNvSpPr/>
          <p:nvPr/>
        </p:nvSpPr>
        <p:spPr>
          <a:xfrm>
            <a:off x="7086600" y="3467100"/>
            <a:ext cx="2026920" cy="25908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"/>
          <p:cNvSpPr/>
          <p:nvPr/>
        </p:nvSpPr>
        <p:spPr>
          <a:xfrm>
            <a:off x="7856220" y="3668268"/>
            <a:ext cx="640080" cy="640080"/>
          </a:xfrm>
          <a:prstGeom prst="ellipse">
            <a:avLst/>
          </a:prstGeom>
          <a:solidFill>
            <a:srgbClr val="EAF6F5"/>
          </a:solidFill>
          <a:ln/>
        </p:spPr>
      </p:sp>
      <p:sp>
        <p:nvSpPr>
          <p:cNvPr id="46" name="Text 6"/>
          <p:cNvSpPr/>
          <p:nvPr/>
        </p:nvSpPr>
        <p:spPr>
          <a:xfrm>
            <a:off x="7330440" y="44729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Verificar</a:t>
            </a:r>
            <a:r>
              <a:rPr lang="en-US" sz="1600" b="1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Dominio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" name="Text 7"/>
          <p:cNvSpPr/>
          <p:nvPr/>
        </p:nvSpPr>
        <p:spPr>
          <a:xfrm>
            <a:off x="7330440" y="49758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smtClean="0">
                <a:solidFill>
                  <a:srgbClr val="5B6B6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Dominios_negros</a:t>
            </a:r>
            <a:r>
              <a:rPr lang="en-US" sz="1400" dirty="0" smtClean="0">
                <a:solidFill>
                  <a:srgbClr val="5B6B6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.txt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8" name="Shape 3"/>
          <p:cNvSpPr/>
          <p:nvPr/>
        </p:nvSpPr>
        <p:spPr>
          <a:xfrm>
            <a:off x="10744200" y="3467100"/>
            <a:ext cx="2026920" cy="25908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"/>
          <p:cNvSpPr/>
          <p:nvPr/>
        </p:nvSpPr>
        <p:spPr>
          <a:xfrm>
            <a:off x="11513820" y="3668268"/>
            <a:ext cx="640080" cy="640080"/>
          </a:xfrm>
          <a:prstGeom prst="ellipse">
            <a:avLst/>
          </a:prstGeom>
          <a:solidFill>
            <a:srgbClr val="EAF6F5"/>
          </a:solidFill>
          <a:ln/>
        </p:spPr>
      </p:sp>
      <p:sp>
        <p:nvSpPr>
          <p:cNvPr id="50" name="Text 6"/>
          <p:cNvSpPr/>
          <p:nvPr/>
        </p:nvSpPr>
        <p:spPr>
          <a:xfrm>
            <a:off x="10988040" y="44729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Calcular</a:t>
            </a:r>
            <a:r>
              <a:rPr lang="en-US" sz="1600" b="1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risco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1" name="Text 7"/>
          <p:cNvSpPr/>
          <p:nvPr/>
        </p:nvSpPr>
        <p:spPr>
          <a:xfrm>
            <a:off x="10988040" y="49758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smtClean="0">
                <a:solidFill>
                  <a:srgbClr val="5B6B6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Soma dos pesos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Shape 3"/>
          <p:cNvSpPr/>
          <p:nvPr/>
        </p:nvSpPr>
        <p:spPr>
          <a:xfrm>
            <a:off x="14401800" y="3467100"/>
            <a:ext cx="2026920" cy="25908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4"/>
          <p:cNvSpPr/>
          <p:nvPr/>
        </p:nvSpPr>
        <p:spPr>
          <a:xfrm>
            <a:off x="15171420" y="3668268"/>
            <a:ext cx="640080" cy="640080"/>
          </a:xfrm>
          <a:prstGeom prst="ellipse">
            <a:avLst/>
          </a:prstGeom>
          <a:solidFill>
            <a:srgbClr val="EAF6F5"/>
          </a:solidFill>
          <a:ln/>
        </p:spPr>
      </p:sp>
      <p:sp>
        <p:nvSpPr>
          <p:cNvPr id="54" name="Text 6"/>
          <p:cNvSpPr/>
          <p:nvPr/>
        </p:nvSpPr>
        <p:spPr>
          <a:xfrm>
            <a:off x="14645640" y="44729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Classificar</a:t>
            </a:r>
            <a:r>
              <a:rPr lang="en-US" sz="1600" b="1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 </a:t>
            </a:r>
            <a:r>
              <a:rPr lang="en-US" sz="16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guardar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5" name="Text 7"/>
          <p:cNvSpPr/>
          <p:nvPr/>
        </p:nvSpPr>
        <p:spPr>
          <a:xfrm>
            <a:off x="14645640" y="49758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 smtClean="0">
                <a:solidFill>
                  <a:srgbClr val="5B6B6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Resultado</a:t>
            </a:r>
            <a:r>
              <a:rPr lang="en-US" sz="1400" dirty="0" smtClean="0">
                <a:solidFill>
                  <a:srgbClr val="5B6B6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+ historico.txt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9839" y="3821887"/>
            <a:ext cx="332842" cy="332842"/>
          </a:xfrm>
          <a:prstGeom prst="rect">
            <a:avLst/>
          </a:prstGeom>
        </p:spPr>
      </p:pic>
      <p:pic>
        <p:nvPicPr>
          <p:cNvPr id="5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7439" y="3833087"/>
            <a:ext cx="332842" cy="332842"/>
          </a:xfrm>
          <a:prstGeom prst="rect">
            <a:avLst/>
          </a:prstGeom>
        </p:spPr>
      </p:pic>
      <p:pic>
        <p:nvPicPr>
          <p:cNvPr id="5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25039" y="3836551"/>
            <a:ext cx="332842" cy="332842"/>
          </a:xfrm>
          <a:prstGeom prst="rect">
            <a:avLst/>
          </a:prstGeom>
        </p:spPr>
      </p:pic>
      <p:sp>
        <p:nvSpPr>
          <p:cNvPr id="59" name="Shape 2"/>
          <p:cNvSpPr/>
          <p:nvPr/>
        </p:nvSpPr>
        <p:spPr>
          <a:xfrm>
            <a:off x="979614" y="6515100"/>
            <a:ext cx="16084931" cy="1981200"/>
          </a:xfrm>
          <a:prstGeom prst="roundRect">
            <a:avLst>
              <a:gd name="adj" fmla="val 12195"/>
            </a:avLst>
          </a:prstGeom>
          <a:solidFill>
            <a:srgbClr val="F7F7E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0" name="Text 29"/>
          <p:cNvSpPr/>
          <p:nvPr/>
        </p:nvSpPr>
        <p:spPr>
          <a:xfrm>
            <a:off x="1234440" y="67437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Níveis de risco (</a:t>
            </a:r>
            <a:r>
              <a:rPr lang="en-US" sz="1600" b="1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pontuação</a:t>
            </a:r>
            <a:r>
              <a:rPr lang="en-US" sz="16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1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acumulada</a:t>
            </a:r>
            <a:r>
              <a:rPr lang="en-US" sz="16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66" name="Shape 30"/>
          <p:cNvSpPr/>
          <p:nvPr/>
        </p:nvSpPr>
        <p:spPr>
          <a:xfrm>
            <a:off x="1333500" y="7473751"/>
            <a:ext cx="2933700" cy="489149"/>
          </a:xfrm>
          <a:prstGeom prst="roundRect">
            <a:avLst>
              <a:gd name="adj" fmla="val 12308"/>
            </a:avLst>
          </a:prstGeom>
          <a:solidFill>
            <a:srgbClr val="3FA66A"/>
          </a:solidFill>
          <a:ln/>
        </p:spPr>
        <p:txBody>
          <a:bodyPr/>
          <a:lstStyle/>
          <a:p>
            <a:pPr algn="ctr"/>
            <a:r>
              <a:rPr lang="pt-PT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Baixo 0 – 20 pts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7" name="Shape 32"/>
          <p:cNvSpPr/>
          <p:nvPr/>
        </p:nvSpPr>
        <p:spPr>
          <a:xfrm>
            <a:off x="5223690" y="7473751"/>
            <a:ext cx="2932481" cy="489149"/>
          </a:xfrm>
          <a:prstGeom prst="roundRect">
            <a:avLst>
              <a:gd name="adj" fmla="val 12308"/>
            </a:avLst>
          </a:prstGeom>
          <a:solidFill>
            <a:srgbClr val="E8C547"/>
          </a:solidFill>
          <a:ln/>
        </p:spPr>
        <p:txBody>
          <a:bodyPr/>
          <a:lstStyle/>
          <a:p>
            <a:pPr algn="ctr"/>
            <a:r>
              <a:rPr lang="pt-PT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Medio </a:t>
            </a:r>
            <a:r>
              <a:rPr lang="pt-PT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21</a:t>
            </a:r>
            <a:r>
              <a:rPr lang="pt-PT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50 pts</a:t>
            </a:r>
            <a:endParaRPr lang="en-US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/>
          </a:p>
        </p:txBody>
      </p:sp>
      <p:sp>
        <p:nvSpPr>
          <p:cNvPr id="68" name="Shape 34"/>
          <p:cNvSpPr/>
          <p:nvPr/>
        </p:nvSpPr>
        <p:spPr>
          <a:xfrm>
            <a:off x="9227819" y="7473751"/>
            <a:ext cx="2772461" cy="489149"/>
          </a:xfrm>
          <a:prstGeom prst="roundRect">
            <a:avLst>
              <a:gd name="adj" fmla="val 12308"/>
            </a:avLst>
          </a:prstGeom>
          <a:solidFill>
            <a:srgbClr val="D9743C"/>
          </a:solidFill>
          <a:ln/>
        </p:spPr>
        <p:txBody>
          <a:bodyPr/>
          <a:lstStyle/>
          <a:p>
            <a:pPr algn="ctr"/>
            <a:r>
              <a:rPr lang="pt-PT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Alto 51 – 80 pts</a:t>
            </a:r>
            <a:endParaRPr lang="en-US" dirty="0"/>
          </a:p>
        </p:txBody>
      </p:sp>
      <p:sp>
        <p:nvSpPr>
          <p:cNvPr id="69" name="Shape 36"/>
          <p:cNvSpPr/>
          <p:nvPr/>
        </p:nvSpPr>
        <p:spPr>
          <a:xfrm>
            <a:off x="13205460" y="7473751"/>
            <a:ext cx="2720340" cy="489149"/>
          </a:xfrm>
          <a:prstGeom prst="roundRect">
            <a:avLst>
              <a:gd name="adj" fmla="val 12308"/>
            </a:avLst>
          </a:prstGeom>
          <a:solidFill>
            <a:srgbClr val="C0392B"/>
          </a:solidFill>
          <a:ln/>
        </p:spPr>
        <p:txBody>
          <a:bodyPr/>
          <a:lstStyle/>
          <a:p>
            <a:pPr algn="ctr"/>
            <a:r>
              <a:rPr lang="pt-PT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Critico </a:t>
            </a:r>
            <a:r>
              <a:rPr lang="pt-PT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81 pts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29021" y="763270"/>
            <a:ext cx="5800979" cy="9553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305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PERSISTÊNCIA DE DADOS</a:t>
            </a:r>
            <a:r>
              <a:rPr lang="en-US" sz="3200" dirty="0"/>
              <a:t/>
            </a:r>
            <a:br>
              <a:rPr lang="en-US" sz="3200" dirty="0"/>
            </a:br>
            <a:endParaRPr sz="3050" dirty="0"/>
          </a:p>
        </p:txBody>
      </p:sp>
      <p:sp>
        <p:nvSpPr>
          <p:cNvPr id="3" name="object 3"/>
          <p:cNvSpPr txBox="1"/>
          <p:nvPr/>
        </p:nvSpPr>
        <p:spPr>
          <a:xfrm>
            <a:off x="17151731" y="763523"/>
            <a:ext cx="244475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-170" dirty="0">
                <a:solidFill>
                  <a:srgbClr val="888888"/>
                </a:solidFill>
                <a:latin typeface="Tahoma"/>
                <a:cs typeface="Tahoma"/>
              </a:rPr>
              <a:t>6</a:t>
            </a:r>
            <a:endParaRPr sz="3050">
              <a:latin typeface="Tahoma"/>
              <a:cs typeface="Tahoma"/>
            </a:endParaRPr>
          </a:p>
        </p:txBody>
      </p:sp>
      <p:sp>
        <p:nvSpPr>
          <p:cNvPr id="13" name="Text 1"/>
          <p:cNvSpPr/>
          <p:nvPr/>
        </p:nvSpPr>
        <p:spPr>
          <a:xfrm>
            <a:off x="685800" y="2019300"/>
            <a:ext cx="70866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Quatro</a:t>
            </a:r>
            <a:r>
              <a:rPr lang="en-US" sz="16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ficheiros</a:t>
            </a:r>
            <a:r>
              <a:rPr lang="en-US" sz="16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texto</a:t>
            </a:r>
            <a:r>
              <a:rPr lang="en-US" sz="16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guardam</a:t>
            </a:r>
            <a:r>
              <a:rPr lang="en-US" sz="16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todo</a:t>
            </a:r>
            <a:r>
              <a:rPr lang="en-US" sz="16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1600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estado</a:t>
            </a:r>
            <a:r>
              <a:rPr lang="en-US" sz="16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 </a:t>
            </a:r>
            <a:r>
              <a:rPr lang="en-US" sz="1600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programa</a:t>
            </a:r>
            <a:r>
              <a:rPr lang="en-US" sz="16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</a:t>
            </a:r>
            <a:r>
              <a:rPr lang="en-US" sz="16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dados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Shape 2"/>
          <p:cNvSpPr/>
          <p:nvPr/>
        </p:nvSpPr>
        <p:spPr>
          <a:xfrm>
            <a:off x="914400" y="3009900"/>
            <a:ext cx="5715000" cy="2361563"/>
          </a:xfrm>
          <a:prstGeom prst="roundRect">
            <a:avLst>
              <a:gd name="adj" fmla="val 12195"/>
            </a:avLst>
          </a:prstGeom>
          <a:solidFill>
            <a:srgbClr val="F7F7E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Elipse 20"/>
          <p:cNvSpPr/>
          <p:nvPr/>
        </p:nvSpPr>
        <p:spPr>
          <a:xfrm>
            <a:off x="1216429" y="3329940"/>
            <a:ext cx="890952" cy="762000"/>
          </a:xfrm>
          <a:prstGeom prst="ellipse">
            <a:avLst/>
          </a:prstGeom>
          <a:solidFill>
            <a:srgbClr val="E5E527"/>
          </a:solidFill>
          <a:ln>
            <a:solidFill>
              <a:srgbClr val="E5E5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80" y="3488521"/>
            <a:ext cx="444838" cy="444838"/>
          </a:xfrm>
          <a:prstGeom prst="rect">
            <a:avLst/>
          </a:prstGeom>
        </p:spPr>
      </p:pic>
      <p:sp>
        <p:nvSpPr>
          <p:cNvPr id="23" name="Text 4"/>
          <p:cNvSpPr/>
          <p:nvPr/>
        </p:nvSpPr>
        <p:spPr>
          <a:xfrm>
            <a:off x="2331132" y="3488521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emails_entrada.txt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 5"/>
          <p:cNvSpPr/>
          <p:nvPr/>
        </p:nvSpPr>
        <p:spPr>
          <a:xfrm>
            <a:off x="1216428" y="4301810"/>
            <a:ext cx="4681451" cy="667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Emails de entrada, separados por marcadores ---EMAIL--- / ---FIM---</a:t>
            </a:r>
          </a:p>
        </p:txBody>
      </p:sp>
      <p:sp>
        <p:nvSpPr>
          <p:cNvPr id="26" name="Shape 2"/>
          <p:cNvSpPr/>
          <p:nvPr/>
        </p:nvSpPr>
        <p:spPr>
          <a:xfrm>
            <a:off x="9448800" y="3009900"/>
            <a:ext cx="5715000" cy="2361563"/>
          </a:xfrm>
          <a:prstGeom prst="roundRect">
            <a:avLst>
              <a:gd name="adj" fmla="val 12195"/>
            </a:avLst>
          </a:prstGeom>
          <a:solidFill>
            <a:srgbClr val="F7F7E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Elipse 26"/>
          <p:cNvSpPr/>
          <p:nvPr/>
        </p:nvSpPr>
        <p:spPr>
          <a:xfrm>
            <a:off x="9750829" y="3329940"/>
            <a:ext cx="890952" cy="762000"/>
          </a:xfrm>
          <a:prstGeom prst="ellipse">
            <a:avLst/>
          </a:prstGeom>
          <a:solidFill>
            <a:srgbClr val="E5E527"/>
          </a:solidFill>
          <a:ln>
            <a:solidFill>
              <a:srgbClr val="E5E5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4"/>
          <p:cNvSpPr/>
          <p:nvPr/>
        </p:nvSpPr>
        <p:spPr>
          <a:xfrm>
            <a:off x="10865532" y="3488521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palavras_suspeitas.txt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Text 5"/>
          <p:cNvSpPr/>
          <p:nvPr/>
        </p:nvSpPr>
        <p:spPr>
          <a:xfrm>
            <a:off x="9750828" y="4301810"/>
            <a:ext cx="4681451" cy="667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Cada</a:t>
            </a:r>
            <a:r>
              <a:rPr lang="en-US" sz="16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linha</a:t>
            </a:r>
            <a:r>
              <a:rPr lang="en-US" sz="16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16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palavra;peso</a:t>
            </a:r>
            <a:r>
              <a:rPr lang="en-US" sz="16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— ex. urgente;20</a:t>
            </a:r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4258" y="3472214"/>
            <a:ext cx="444094" cy="444094"/>
          </a:xfrm>
          <a:prstGeom prst="rect">
            <a:avLst/>
          </a:prstGeom>
        </p:spPr>
      </p:pic>
      <p:sp>
        <p:nvSpPr>
          <p:cNvPr id="32" name="Shape 2"/>
          <p:cNvSpPr/>
          <p:nvPr/>
        </p:nvSpPr>
        <p:spPr>
          <a:xfrm>
            <a:off x="914400" y="5632651"/>
            <a:ext cx="5715000" cy="2361563"/>
          </a:xfrm>
          <a:prstGeom prst="roundRect">
            <a:avLst>
              <a:gd name="adj" fmla="val 12195"/>
            </a:avLst>
          </a:prstGeom>
          <a:solidFill>
            <a:srgbClr val="F7F7E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Elipse 32"/>
          <p:cNvSpPr/>
          <p:nvPr/>
        </p:nvSpPr>
        <p:spPr>
          <a:xfrm>
            <a:off x="1216429" y="5952691"/>
            <a:ext cx="890952" cy="762000"/>
          </a:xfrm>
          <a:prstGeom prst="ellipse">
            <a:avLst/>
          </a:prstGeom>
          <a:solidFill>
            <a:srgbClr val="E5E527"/>
          </a:solidFill>
          <a:ln>
            <a:solidFill>
              <a:srgbClr val="E5E5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 4"/>
          <p:cNvSpPr/>
          <p:nvPr/>
        </p:nvSpPr>
        <p:spPr>
          <a:xfrm>
            <a:off x="2331132" y="61112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dominios_negros.txt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Text 5"/>
          <p:cNvSpPr/>
          <p:nvPr/>
        </p:nvSpPr>
        <p:spPr>
          <a:xfrm>
            <a:off x="1216428" y="6924561"/>
            <a:ext cx="4681451" cy="667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Um </a:t>
            </a:r>
            <a:r>
              <a:rPr lang="en-US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domínio</a:t>
            </a:r>
            <a:r>
              <a:rPr lang="en-US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malicioso</a:t>
            </a:r>
            <a:r>
              <a:rPr lang="en-US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</a:t>
            </a:r>
            <a:r>
              <a:rPr lang="en-US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linha</a:t>
            </a:r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Shape 2"/>
          <p:cNvSpPr/>
          <p:nvPr/>
        </p:nvSpPr>
        <p:spPr>
          <a:xfrm>
            <a:off x="9462388" y="5632651"/>
            <a:ext cx="5715000" cy="2361563"/>
          </a:xfrm>
          <a:prstGeom prst="roundRect">
            <a:avLst>
              <a:gd name="adj" fmla="val 12195"/>
            </a:avLst>
          </a:prstGeom>
          <a:solidFill>
            <a:srgbClr val="F7F7E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Elipse 37"/>
          <p:cNvSpPr/>
          <p:nvPr/>
        </p:nvSpPr>
        <p:spPr>
          <a:xfrm>
            <a:off x="9764417" y="5952691"/>
            <a:ext cx="890952" cy="762000"/>
          </a:xfrm>
          <a:prstGeom prst="ellipse">
            <a:avLst/>
          </a:prstGeom>
          <a:solidFill>
            <a:srgbClr val="E5E527"/>
          </a:solidFill>
          <a:ln>
            <a:solidFill>
              <a:srgbClr val="E5E5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 4"/>
          <p:cNvSpPr/>
          <p:nvPr/>
        </p:nvSpPr>
        <p:spPr>
          <a:xfrm>
            <a:off x="10879120" y="61112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historico</a:t>
            </a:r>
            <a:r>
              <a:rPr lang="en-US" sz="16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.txt / </a:t>
            </a:r>
            <a:r>
              <a:rPr lang="en-US" sz="1600" b="1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relatorio</a:t>
            </a:r>
            <a:r>
              <a:rPr lang="en-US" sz="16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Text 5"/>
          <p:cNvSpPr/>
          <p:nvPr/>
        </p:nvSpPr>
        <p:spPr>
          <a:xfrm>
            <a:off x="9764416" y="6924561"/>
            <a:ext cx="5170196" cy="667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Resumo</a:t>
            </a:r>
            <a:r>
              <a:rPr lang="en-US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cada</a:t>
            </a:r>
            <a:r>
              <a:rPr lang="en-US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análise</a:t>
            </a:r>
            <a:r>
              <a:rPr lang="en-US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 </a:t>
            </a:r>
            <a:r>
              <a:rPr lang="en-US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relatórios</a:t>
            </a:r>
            <a:r>
              <a:rPr lang="en-US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exportados</a:t>
            </a:r>
            <a:endPara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096" y="6158696"/>
            <a:ext cx="399067" cy="399067"/>
          </a:xfrm>
          <a:prstGeom prst="rect">
            <a:avLst/>
          </a:prstGeom>
        </p:spPr>
      </p:pic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5946" y="6130612"/>
            <a:ext cx="367894" cy="3678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29020" y="763270"/>
            <a:ext cx="7553579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0" indent="0">
              <a:buNone/>
            </a:pPr>
            <a:r>
              <a:rPr lang="en-US" sz="305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RESULTADOS EM FUNCIONAMENTO</a:t>
            </a:r>
            <a:endParaRPr lang="en-US" sz="3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51731" y="763523"/>
            <a:ext cx="244475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-170" dirty="0">
                <a:solidFill>
                  <a:srgbClr val="888888"/>
                </a:solidFill>
                <a:latin typeface="Tahoma"/>
                <a:cs typeface="Tahoma"/>
              </a:rPr>
              <a:t>7</a:t>
            </a:r>
            <a:endParaRPr sz="3050">
              <a:latin typeface="Tahoma"/>
              <a:cs typeface="Tahoma"/>
            </a:endParaRPr>
          </a:p>
        </p:txBody>
      </p:sp>
      <p:sp>
        <p:nvSpPr>
          <p:cNvPr id="14" name="Shape 2"/>
          <p:cNvSpPr/>
          <p:nvPr/>
        </p:nvSpPr>
        <p:spPr>
          <a:xfrm>
            <a:off x="990600" y="2247900"/>
            <a:ext cx="5562600" cy="6705600"/>
          </a:xfrm>
          <a:prstGeom prst="roundRect">
            <a:avLst>
              <a:gd name="adj" fmla="val 2791"/>
            </a:avLst>
          </a:prstGeom>
          <a:solidFill>
            <a:srgbClr val="F7F7E9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3"/>
          <p:cNvSpPr/>
          <p:nvPr/>
        </p:nvSpPr>
        <p:spPr>
          <a:xfrm>
            <a:off x="1697100" y="262890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  <a:endParaRPr lang="en-US" sz="7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 4"/>
          <p:cNvSpPr/>
          <p:nvPr/>
        </p:nvSpPr>
        <p:spPr>
          <a:xfrm>
            <a:off x="1805940" y="36347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emails </a:t>
            </a:r>
            <a:r>
              <a:rPr lang="en-US" sz="1600" b="1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analisados</a:t>
            </a:r>
            <a:r>
              <a:rPr lang="en-US" sz="1600" b="1" dirty="0" err="1" smtClean="0">
                <a:solidFill>
                  <a:srgbClr val="EAF6F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endParaRPr lang="en-US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 6"/>
          <p:cNvSpPr/>
          <p:nvPr/>
        </p:nvSpPr>
        <p:spPr>
          <a:xfrm>
            <a:off x="1447800" y="476042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97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4"/>
          <p:cNvSpPr/>
          <p:nvPr/>
        </p:nvSpPr>
        <p:spPr>
          <a:xfrm>
            <a:off x="1432560" y="5309062"/>
            <a:ext cx="1752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Suspeitos</a:t>
            </a:r>
            <a:endParaRPr lang="en-US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 6"/>
          <p:cNvSpPr/>
          <p:nvPr/>
        </p:nvSpPr>
        <p:spPr>
          <a:xfrm>
            <a:off x="4042756" y="476042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 smtClean="0">
                <a:solidFill>
                  <a:srgbClr val="D97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20" name="Text 4"/>
          <p:cNvSpPr/>
          <p:nvPr/>
        </p:nvSpPr>
        <p:spPr>
          <a:xfrm>
            <a:off x="4027516" y="5309062"/>
            <a:ext cx="1752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Seguros</a:t>
            </a:r>
            <a:endParaRPr lang="en-US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1447800" y="6742660"/>
            <a:ext cx="4770120" cy="1144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domínio malicioso, quando detetado, soma +50 pontos e é indicado nas palavras encontradas — o utilizador entende sempre a origem do risco.</a:t>
            </a:r>
            <a:endParaRPr lang="en-US" sz="20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663799"/>
              </p:ext>
            </p:extLst>
          </p:nvPr>
        </p:nvGraphicFramePr>
        <p:xfrm>
          <a:off x="6995161" y="2247900"/>
          <a:ext cx="9692638" cy="6705600"/>
        </p:xfrm>
        <a:graphic>
          <a:graphicData uri="http://schemas.openxmlformats.org/drawingml/2006/table">
            <a:tbl>
              <a:tblPr/>
              <a:tblGrid>
                <a:gridCol w="4381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6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8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6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17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Remetente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Pontuação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Risco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Estado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A2B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seguranca@paypal-verificacao.com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E2A2B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180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C0392B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CRÍTICO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D9743C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SUSPEITO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A2B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noreply@banco-angola-seguro.net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E2A2B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285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C0392B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CRÍTICO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D9743C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SUSPEITO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A2B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premio@lotaria-mundial.com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E2A2B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215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C0392B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CRÍTICO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D9743C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SUSPEITO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A2B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mario.joao@gmail.com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E2A2B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3FA66A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BAIXO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3FA66A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SEGURO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A2B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professora.silvia@isptec.co.ao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E2A2B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3FA66A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BAIXO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3FA66A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SEGURO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29021" y="763270"/>
            <a:ext cx="4228465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pt-PT" sz="3050" spc="-45" dirty="0" smtClean="0"/>
              <a:t>EQUIPA</a:t>
            </a:r>
            <a:endParaRPr sz="3050" dirty="0"/>
          </a:p>
        </p:txBody>
      </p:sp>
      <p:sp>
        <p:nvSpPr>
          <p:cNvPr id="3" name="object 3"/>
          <p:cNvSpPr txBox="1"/>
          <p:nvPr/>
        </p:nvSpPr>
        <p:spPr>
          <a:xfrm>
            <a:off x="17151731" y="763523"/>
            <a:ext cx="244475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-170" dirty="0">
                <a:solidFill>
                  <a:srgbClr val="888888"/>
                </a:solidFill>
                <a:latin typeface="Tahoma"/>
                <a:cs typeface="Tahoma"/>
              </a:rPr>
              <a:t>8</a:t>
            </a:r>
            <a:endParaRPr sz="3050">
              <a:latin typeface="Tahoma"/>
              <a:cs typeface="Tahoma"/>
            </a:endParaRPr>
          </a:p>
        </p:txBody>
      </p:sp>
      <p:sp>
        <p:nvSpPr>
          <p:cNvPr id="10" name="Text 1"/>
          <p:cNvSpPr/>
          <p:nvPr/>
        </p:nvSpPr>
        <p:spPr>
          <a:xfrm>
            <a:off x="685800" y="2019300"/>
            <a:ext cx="70866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Responsabilidades</a:t>
            </a:r>
            <a:r>
              <a:rPr lang="en-US" sz="16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1600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cada</a:t>
            </a:r>
            <a:r>
              <a:rPr lang="en-US" sz="16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membro</a:t>
            </a:r>
            <a:r>
              <a:rPr lang="en-US" sz="16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 </a:t>
            </a:r>
            <a:r>
              <a:rPr lang="en-US" sz="1600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grupo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Shape 2"/>
          <p:cNvSpPr/>
          <p:nvPr/>
        </p:nvSpPr>
        <p:spPr>
          <a:xfrm>
            <a:off x="914400" y="2590800"/>
            <a:ext cx="4953000" cy="4876800"/>
          </a:xfrm>
          <a:prstGeom prst="roundRect">
            <a:avLst>
              <a:gd name="adj" fmla="val 12195"/>
            </a:avLst>
          </a:prstGeom>
          <a:solidFill>
            <a:srgbClr val="F7F7E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4"/>
          <p:cNvSpPr/>
          <p:nvPr/>
        </p:nvSpPr>
        <p:spPr>
          <a:xfrm>
            <a:off x="1630680" y="332270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Mário João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 5"/>
          <p:cNvSpPr/>
          <p:nvPr/>
        </p:nvSpPr>
        <p:spPr>
          <a:xfrm>
            <a:off x="1950720" y="400050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Classe Email.java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Opção 0 — Sair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Opção 4 — Lista negra de domínios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Shape 2"/>
          <p:cNvSpPr/>
          <p:nvPr/>
        </p:nvSpPr>
        <p:spPr>
          <a:xfrm>
            <a:off x="6555971" y="2590800"/>
            <a:ext cx="4953000" cy="4876800"/>
          </a:xfrm>
          <a:prstGeom prst="roundRect">
            <a:avLst>
              <a:gd name="adj" fmla="val 12195"/>
            </a:avLst>
          </a:prstGeom>
          <a:solidFill>
            <a:srgbClr val="F7F7E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4"/>
          <p:cNvSpPr/>
          <p:nvPr/>
        </p:nvSpPr>
        <p:spPr>
          <a:xfrm>
            <a:off x="7272251" y="332270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Márcio</a:t>
            </a:r>
            <a:r>
              <a:rPr lang="en-US" sz="3200" b="1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Simão</a:t>
            </a:r>
            <a:endParaRPr 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 5"/>
          <p:cNvSpPr/>
          <p:nvPr/>
        </p:nvSpPr>
        <p:spPr>
          <a:xfrm>
            <a:off x="7592291" y="400050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Menu principal (Keba.java)</a:t>
            </a:r>
            <a:endParaRPr lang="en-US" sz="20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Opção</a:t>
            </a:r>
            <a:r>
              <a:rPr lang="en-US" sz="20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 — </a:t>
            </a:r>
            <a:r>
              <a:rPr lang="en-US" sz="20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Analisar</a:t>
            </a:r>
            <a:r>
              <a:rPr lang="en-US" sz="20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ficheiro</a:t>
            </a:r>
            <a:r>
              <a:rPr lang="en-US" sz="20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emails</a:t>
            </a:r>
            <a:endParaRPr lang="en-US" sz="20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Opção</a:t>
            </a:r>
            <a:r>
              <a:rPr lang="en-US" sz="20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 — </a:t>
            </a:r>
            <a:r>
              <a:rPr lang="en-US" sz="20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Gerir</a:t>
            </a:r>
            <a:r>
              <a:rPr lang="en-US" sz="20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palavras</a:t>
            </a:r>
            <a:r>
              <a:rPr lang="en-US" sz="20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suspeitas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12197542" y="2590800"/>
            <a:ext cx="4953000" cy="4876800"/>
          </a:xfrm>
          <a:prstGeom prst="roundRect">
            <a:avLst>
              <a:gd name="adj" fmla="val 12195"/>
            </a:avLst>
          </a:prstGeom>
          <a:solidFill>
            <a:srgbClr val="F7F7E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4"/>
          <p:cNvSpPr/>
          <p:nvPr/>
        </p:nvSpPr>
        <p:spPr>
          <a:xfrm>
            <a:off x="12545291" y="2922840"/>
            <a:ext cx="4386349" cy="1077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Sebastião Luvumbo</a:t>
            </a:r>
            <a:endParaRPr 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 5"/>
          <p:cNvSpPr/>
          <p:nvPr/>
        </p:nvSpPr>
        <p:spPr>
          <a:xfrm>
            <a:off x="12545290" y="4189477"/>
            <a:ext cx="4605251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Classe</a:t>
            </a:r>
            <a:r>
              <a:rPr lang="en-US" sz="20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RegistoAnalise.java</a:t>
            </a:r>
            <a:endParaRPr lang="en-US" sz="20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Opção</a:t>
            </a:r>
            <a:r>
              <a:rPr lang="en-US" sz="20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 — </a:t>
            </a:r>
            <a:r>
              <a:rPr lang="en-US" sz="20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</a:t>
            </a:r>
            <a:r>
              <a:rPr lang="en-US" sz="20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histórico</a:t>
            </a:r>
            <a:r>
              <a:rPr lang="en-US" sz="20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análises</a:t>
            </a:r>
            <a:endParaRPr lang="en-US" sz="20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Opção</a:t>
            </a:r>
            <a:r>
              <a:rPr lang="en-US" sz="20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5 — </a:t>
            </a:r>
            <a:r>
              <a:rPr lang="en-US" sz="20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Gerar</a:t>
            </a:r>
            <a:r>
              <a:rPr lang="en-US" sz="20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relatório</a:t>
            </a:r>
            <a:endParaRPr lang="en-US" sz="20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Opção</a:t>
            </a:r>
            <a:r>
              <a:rPr lang="en-US" sz="20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6 — </a:t>
            </a:r>
            <a:r>
              <a:rPr lang="en-US" sz="20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</a:t>
            </a:r>
            <a:r>
              <a:rPr lang="en-US" sz="20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estatísticas</a:t>
            </a:r>
            <a:r>
              <a:rPr lang="en-US" sz="20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gerais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pt-PT" sz="3050" dirty="0" smtClean="0"/>
              <a:t>CONCLUSÃO</a:t>
            </a:r>
            <a:endParaRPr sz="3050" dirty="0"/>
          </a:p>
        </p:txBody>
      </p:sp>
      <p:sp>
        <p:nvSpPr>
          <p:cNvPr id="3" name="object 3"/>
          <p:cNvSpPr txBox="1"/>
          <p:nvPr/>
        </p:nvSpPr>
        <p:spPr>
          <a:xfrm>
            <a:off x="17151731" y="763523"/>
            <a:ext cx="244475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-170" dirty="0">
                <a:solidFill>
                  <a:srgbClr val="888888"/>
                </a:solidFill>
                <a:latin typeface="Tahoma"/>
                <a:cs typeface="Tahoma"/>
              </a:rPr>
              <a:t>9</a:t>
            </a:r>
            <a:endParaRPr sz="3050">
              <a:latin typeface="Tahoma"/>
              <a:cs typeface="Tahoma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190" y="2400300"/>
            <a:ext cx="765810" cy="7658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514600" y="2508885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US" sz="2400" b="1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 aprendemos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1295400" y="3706091"/>
            <a:ext cx="5410200" cy="37466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2400" dirty="0" err="1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rganizar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um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programa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Java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classes com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funções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específicas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Registrar dados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ficheiros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texto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com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leitura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escrita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reescrita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segura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Trabalhar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equipa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com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/GitHub — branches, merges e Pull Requests.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0" y="2349210"/>
            <a:ext cx="706039" cy="816900"/>
          </a:xfrm>
          <a:prstGeom prst="rect">
            <a:avLst/>
          </a:prstGeom>
        </p:spPr>
      </p:pic>
      <p:sp>
        <p:nvSpPr>
          <p:cNvPr id="13" name="Retângulo 12"/>
          <p:cNvSpPr/>
          <p:nvPr/>
        </p:nvSpPr>
        <p:spPr>
          <a:xfrm>
            <a:off x="10668000" y="2619240"/>
            <a:ext cx="36471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Principais</a:t>
            </a:r>
            <a:r>
              <a:rPr lang="en-US" sz="2400" b="1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dificuldades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9448800" y="3619500"/>
            <a:ext cx="5472817" cy="4135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Sincronizar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branches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diferentes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 GitHub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sem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perder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trabalho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cada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membro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Manter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nomes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métodos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atributos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consistentes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entre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ficheiros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criados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separado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342900" indent="-342900">
              <a:lnSpc>
                <a:spcPct val="114999"/>
              </a:lnSpc>
              <a:buSzPct val="100000"/>
              <a:buFont typeface="Arial"/>
              <a:buChar char="•"/>
            </a:pPr>
            <a:r>
              <a:rPr lang="en-US" sz="2400" dirty="0" err="1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dentificar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corrigir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erros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compilação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problemas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codificação</a:t>
            </a:r>
            <a:r>
              <a:rPr lang="en-US" sz="2400" dirty="0" smtClean="0">
                <a:solidFill>
                  <a:srgbClr val="1E2A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 Java.</a:t>
            </a:r>
            <a:endParaRPr lang="en-US" sz="24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5143500"/>
              <a:ext cx="18288000" cy="1019175"/>
            </a:xfrm>
            <a:custGeom>
              <a:avLst/>
              <a:gdLst/>
              <a:ahLst/>
              <a:cxnLst/>
              <a:rect l="l" t="t" r="r" b="b"/>
              <a:pathLst>
                <a:path w="18288000" h="1019175">
                  <a:moveTo>
                    <a:pt x="18288000" y="0"/>
                  </a:moveTo>
                  <a:lnTo>
                    <a:pt x="0" y="0"/>
                  </a:lnTo>
                  <a:lnTo>
                    <a:pt x="0" y="1019175"/>
                  </a:lnTo>
                  <a:lnTo>
                    <a:pt x="18288000" y="1019175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001750" y="0"/>
              <a:ext cx="4286250" cy="4286250"/>
            </a:xfrm>
            <a:custGeom>
              <a:avLst/>
              <a:gdLst/>
              <a:ahLst/>
              <a:cxnLst/>
              <a:rect l="l" t="t" r="r" b="b"/>
              <a:pathLst>
                <a:path w="4286250" h="4286250">
                  <a:moveTo>
                    <a:pt x="4285742" y="0"/>
                  </a:moveTo>
                  <a:lnTo>
                    <a:pt x="0" y="0"/>
                  </a:lnTo>
                  <a:lnTo>
                    <a:pt x="4285742" y="4285742"/>
                  </a:lnTo>
                  <a:lnTo>
                    <a:pt x="4285742" y="0"/>
                  </a:lnTo>
                  <a:close/>
                </a:path>
              </a:pathLst>
            </a:custGeom>
            <a:solidFill>
              <a:srgbClr val="FFC324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9401174"/>
              <a:ext cx="18288000" cy="885825"/>
            </a:xfrm>
            <a:custGeom>
              <a:avLst/>
              <a:gdLst/>
              <a:ahLst/>
              <a:cxnLst/>
              <a:rect l="l" t="t" r="r" b="b"/>
              <a:pathLst>
                <a:path w="18288000" h="885825">
                  <a:moveTo>
                    <a:pt x="18288000" y="0"/>
                  </a:moveTo>
                  <a:lnTo>
                    <a:pt x="0" y="0"/>
                  </a:lnTo>
                  <a:lnTo>
                    <a:pt x="0" y="885825"/>
                  </a:lnTo>
                  <a:lnTo>
                    <a:pt x="18288000" y="885825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F7F9FC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353925" y="0"/>
              <a:ext cx="4419600" cy="9258300"/>
            </a:xfrm>
            <a:custGeom>
              <a:avLst/>
              <a:gdLst/>
              <a:ahLst/>
              <a:cxnLst/>
              <a:rect l="l" t="t" r="r" b="b"/>
              <a:pathLst>
                <a:path w="4419600" h="9258300">
                  <a:moveTo>
                    <a:pt x="1657350" y="9237802"/>
                  </a:moveTo>
                  <a:lnTo>
                    <a:pt x="20193" y="7601585"/>
                  </a:lnTo>
                  <a:lnTo>
                    <a:pt x="0" y="7621778"/>
                  </a:lnTo>
                  <a:lnTo>
                    <a:pt x="1637157" y="9258008"/>
                  </a:lnTo>
                  <a:lnTo>
                    <a:pt x="1657350" y="9237802"/>
                  </a:lnTo>
                  <a:close/>
                </a:path>
                <a:path w="4419600" h="9258300">
                  <a:moveTo>
                    <a:pt x="4419600" y="3329051"/>
                  </a:moveTo>
                  <a:lnTo>
                    <a:pt x="1088644" y="0"/>
                  </a:lnTo>
                  <a:lnTo>
                    <a:pt x="1021334" y="0"/>
                  </a:lnTo>
                  <a:lnTo>
                    <a:pt x="4385818" y="3362706"/>
                  </a:lnTo>
                  <a:lnTo>
                    <a:pt x="4419600" y="3329051"/>
                  </a:lnTo>
                  <a:close/>
                </a:path>
              </a:pathLst>
            </a:custGeom>
            <a:solidFill>
              <a:srgbClr val="F7F9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693283" y="5372417"/>
            <a:ext cx="8246491" cy="64697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100" b="1" spc="-590" dirty="0">
                <a:solidFill>
                  <a:srgbClr val="FFFFFF"/>
                </a:solidFill>
                <a:latin typeface="Tahoma"/>
                <a:cs typeface="Tahoma"/>
              </a:rPr>
              <a:t>MUITO</a:t>
            </a:r>
            <a:r>
              <a:rPr sz="4100" b="1" spc="-6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pt-PT" sz="4100" b="1" spc="-685" dirty="0" smtClean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100" b="1" spc="-375" dirty="0" smtClean="0">
                <a:solidFill>
                  <a:srgbClr val="FFFFFF"/>
                </a:solidFill>
                <a:latin typeface="Tahoma"/>
                <a:cs typeface="Tahoma"/>
              </a:rPr>
              <a:t>OBRIGADO</a:t>
            </a:r>
            <a:r>
              <a:rPr sz="4100" b="1" spc="-685" dirty="0" smtClean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100" b="1" spc="-495" dirty="0">
                <a:solidFill>
                  <a:srgbClr val="FFFFFF"/>
                </a:solidFill>
                <a:latin typeface="Tahoma"/>
                <a:cs typeface="Tahoma"/>
              </a:rPr>
              <a:t>PELA</a:t>
            </a:r>
            <a:r>
              <a:rPr sz="4100" b="1" spc="-6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pt-PT" sz="4100" b="1" spc="-645" dirty="0" smtClean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100" b="1" spc="-330" dirty="0" smtClean="0">
                <a:solidFill>
                  <a:srgbClr val="FFFFFF"/>
                </a:solidFill>
                <a:latin typeface="Tahoma"/>
                <a:cs typeface="Tahoma"/>
              </a:rPr>
              <a:t>ATENÇÃO</a:t>
            </a:r>
            <a:r>
              <a:rPr sz="4100" b="1" spc="-330" dirty="0">
                <a:solidFill>
                  <a:srgbClr val="FFFFFF"/>
                </a:solidFill>
                <a:latin typeface="Tahoma"/>
                <a:cs typeface="Tahoma"/>
              </a:rPr>
              <a:t>!</a:t>
            </a:r>
            <a:endParaRPr sz="41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56860" y="9626917"/>
            <a:ext cx="808291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dirty="0">
                <a:latin typeface="Trebuchet MS"/>
                <a:cs typeface="Trebuchet MS"/>
              </a:rPr>
              <a:t>Volenti</a:t>
            </a:r>
            <a:r>
              <a:rPr sz="2750" spc="-215" dirty="0">
                <a:latin typeface="Trebuchet MS"/>
                <a:cs typeface="Trebuchet MS"/>
              </a:rPr>
              <a:t> </a:t>
            </a:r>
            <a:r>
              <a:rPr sz="2750" spc="-155" dirty="0">
                <a:latin typeface="Trebuchet MS"/>
                <a:cs typeface="Trebuchet MS"/>
              </a:rPr>
              <a:t>Nihil</a:t>
            </a:r>
            <a:r>
              <a:rPr sz="2750" spc="-380" dirty="0">
                <a:latin typeface="Trebuchet MS"/>
                <a:cs typeface="Trebuchet MS"/>
              </a:rPr>
              <a:t> </a:t>
            </a:r>
            <a:r>
              <a:rPr sz="2750" spc="-185" dirty="0">
                <a:latin typeface="Trebuchet MS"/>
                <a:cs typeface="Trebuchet MS"/>
              </a:rPr>
              <a:t>Difficili</a:t>
            </a:r>
            <a:r>
              <a:rPr sz="2750" spc="-305" dirty="0">
                <a:latin typeface="Trebuchet MS"/>
                <a:cs typeface="Trebuchet MS"/>
              </a:rPr>
              <a:t> </a:t>
            </a:r>
            <a:r>
              <a:rPr sz="2750" spc="130" dirty="0">
                <a:latin typeface="Trebuchet MS"/>
                <a:cs typeface="Trebuchet MS"/>
              </a:rPr>
              <a:t>-</a:t>
            </a:r>
            <a:r>
              <a:rPr sz="2750" spc="235" dirty="0">
                <a:latin typeface="Trebuchet MS"/>
                <a:cs typeface="Trebuchet MS"/>
              </a:rPr>
              <a:t>“A</a:t>
            </a:r>
            <a:r>
              <a:rPr sz="2750" dirty="0">
                <a:latin typeface="Trebuchet MS"/>
                <a:cs typeface="Trebuchet MS"/>
              </a:rPr>
              <a:t> </a:t>
            </a:r>
            <a:r>
              <a:rPr sz="2750" spc="315" dirty="0">
                <a:latin typeface="Trebuchet MS"/>
                <a:cs typeface="Trebuchet MS"/>
              </a:rPr>
              <a:t>quem</a:t>
            </a:r>
            <a:r>
              <a:rPr sz="2750" spc="-14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quer,</a:t>
            </a:r>
            <a:r>
              <a:rPr sz="2750" spc="-285" dirty="0">
                <a:latin typeface="Trebuchet MS"/>
                <a:cs typeface="Trebuchet MS"/>
              </a:rPr>
              <a:t> </a:t>
            </a:r>
            <a:r>
              <a:rPr sz="2750" spc="455" dirty="0">
                <a:latin typeface="Trebuchet MS"/>
                <a:cs typeface="Trebuchet MS"/>
              </a:rPr>
              <a:t>nada</a:t>
            </a:r>
            <a:r>
              <a:rPr sz="2750" spc="10" dirty="0">
                <a:latin typeface="Trebuchet MS"/>
                <a:cs typeface="Trebuchet MS"/>
              </a:rPr>
              <a:t> </a:t>
            </a:r>
            <a:r>
              <a:rPr sz="2750" spc="300" dirty="0">
                <a:latin typeface="Trebuchet MS"/>
                <a:cs typeface="Trebuchet MS"/>
              </a:rPr>
              <a:t>é</a:t>
            </a:r>
            <a:r>
              <a:rPr sz="2750" spc="-20" dirty="0">
                <a:latin typeface="Trebuchet MS"/>
                <a:cs typeface="Trebuchet MS"/>
              </a:rPr>
              <a:t> </a:t>
            </a:r>
            <a:r>
              <a:rPr sz="2750" spc="-40" dirty="0">
                <a:latin typeface="Trebuchet MS"/>
                <a:cs typeface="Trebuchet MS"/>
              </a:rPr>
              <a:t>difícil”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137126" y="9544050"/>
            <a:ext cx="254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888888"/>
                </a:solidFill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604</Words>
  <Application>Microsoft Office PowerPoint</Application>
  <PresentationFormat>Personalizar</PresentationFormat>
  <Paragraphs>131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</vt:lpstr>
      <vt:lpstr>Tahoma</vt:lpstr>
      <vt:lpstr>Trebuchet MS</vt:lpstr>
      <vt:lpstr>Office Theme</vt:lpstr>
      <vt:lpstr>Apresentação do PowerPoint</vt:lpstr>
      <vt:lpstr>TEMA</vt:lpstr>
      <vt:lpstr>SOLUÇÃO</vt:lpstr>
      <vt:lpstr>ARQUITETURA DO CÓDIGO </vt:lpstr>
      <vt:lpstr>Como o Keba Analisa um Email </vt:lpstr>
      <vt:lpstr>PERSISTÊNCIA DE DADOS </vt:lpstr>
      <vt:lpstr>RESULTADOS EM FUNCIONAMENTO</vt:lpstr>
      <vt:lpstr>EQUIPA</vt:lpstr>
      <vt:lpstr>CONCLUSÃO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Sebastião B. Luvumbo</dc:creator>
  <cp:lastModifiedBy>Sebastião B. Luvumbo</cp:lastModifiedBy>
  <cp:revision>10</cp:revision>
  <dcterms:created xsi:type="dcterms:W3CDTF">2026-06-29T20:45:53Z</dcterms:created>
  <dcterms:modified xsi:type="dcterms:W3CDTF">2026-06-29T22:15:07Z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2026-05-15T00:00:00Z</vt:filetime>
  </property>
  <property fmtid="{D5CDD505-2E9C-101B-9397-08002B2CF9AE}" pid="4" name="LastSaved">
    <vt:filetime>2026-06-29T00:00:00Z</vt:filetime>
  </property>
</Properties>
</file>